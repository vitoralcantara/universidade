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70" r:id="rId6"/>
    <p:sldId id="261" r:id="rId7"/>
    <p:sldId id="260" r:id="rId8"/>
    <p:sldId id="262" r:id="rId9"/>
    <p:sldId id="264" r:id="rId10"/>
    <p:sldId id="265" r:id="rId11"/>
    <p:sldId id="266" r:id="rId12"/>
    <p:sldId id="268" r:id="rId13"/>
    <p:sldId id="267" r:id="rId14"/>
    <p:sldId id="272" r:id="rId15"/>
    <p:sldId id="271" r:id="rId16"/>
    <p:sldId id="269" r:id="rId17"/>
    <p:sldId id="277" r:id="rId18"/>
    <p:sldId id="274" r:id="rId19"/>
    <p:sldId id="273" r:id="rId20"/>
    <p:sldId id="275" r:id="rId21"/>
    <p:sldId id="279" r:id="rId22"/>
    <p:sldId id="280" r:id="rId23"/>
    <p:sldId id="278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94718" autoAdjust="0"/>
  </p:normalViewPr>
  <p:slideViewPr>
    <p:cSldViewPr>
      <p:cViewPr varScale="1">
        <p:scale>
          <a:sx n="84" d="100"/>
          <a:sy n="84" d="100"/>
        </p:scale>
        <p:origin x="-105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A4739-C522-4AB2-8CDF-82F60D143B24}" type="datetimeFigureOut">
              <a:rPr lang="pt-BR" smtClean="0"/>
              <a:pPr/>
              <a:t>1/12/2009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6D473-86EC-413D-BB7E-B8F0FE0CCD3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pc.eng.br/ciemat/aco170.shtml" TargetMode="External"/><Relationship Id="rId2" Type="http://schemas.openxmlformats.org/officeDocument/2006/relationships/hyperlink" Target="http://www.poli.usp.br/d/pmt2100/Aula04_2005%201p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abvirtual.eq.uc.pt/siteJoomla/index.php?option=com_content&amp;task=view&amp;id=249&amp;Itemid=423#5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pt-BR" sz="7200" u="dotted" dirty="0" smtClean="0">
                <a:solidFill>
                  <a:srgbClr val="FFC0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pt-BR" sz="7200" u="dotted" dirty="0" smtClean="0">
                <a:solidFill>
                  <a:srgbClr val="FFC0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</a:br>
            <a:r>
              <a:rPr lang="pt-BR" sz="4000" u="sng" dirty="0" smtClean="0">
                <a:solidFill>
                  <a:srgbClr val="FFFF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Seminário: </a:t>
            </a:r>
            <a:r>
              <a:rPr lang="pt-BR" sz="4000" u="dotted" dirty="0" smtClean="0">
                <a:solidFill>
                  <a:srgbClr val="FFC0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O Fenômeno da difusão aplicado a Engenharia Química</a:t>
            </a:r>
            <a:r>
              <a:rPr lang="pt-BR" sz="4000" u="sng" dirty="0" smtClean="0">
                <a:solidFill>
                  <a:srgbClr val="FFFF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pt-BR" sz="7200" u="dotted" dirty="0" smtClean="0">
                <a:solidFill>
                  <a:srgbClr val="FFC0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pt-BR" sz="7200" u="dotted" dirty="0" smtClean="0">
                <a:solidFill>
                  <a:srgbClr val="FFC000"/>
                </a:solidFill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</a:br>
            <a:endParaRPr lang="pt-BR" sz="7200" u="dotted" dirty="0">
              <a:solidFill>
                <a:srgbClr val="FFC000"/>
              </a:solidFill>
              <a:latin typeface="Berlin Sans FB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Espaço Reservado para Conteúdo 9"/>
          <p:cNvSpPr>
            <a:spLocks noGrp="1"/>
          </p:cNvSpPr>
          <p:nvPr>
            <p:ph idx="1"/>
          </p:nvPr>
        </p:nvSpPr>
        <p:spPr>
          <a:xfrm>
            <a:off x="2285984" y="2071679"/>
            <a:ext cx="6400816" cy="3786214"/>
          </a:xfrm>
        </p:spPr>
        <p:txBody>
          <a:bodyPr>
            <a:normAutofit/>
          </a:bodyPr>
          <a:lstStyle/>
          <a:p>
            <a:r>
              <a:rPr lang="pt-BR" sz="3000" b="1" u="dotted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Isadora Silva de Oliveira</a:t>
            </a:r>
          </a:p>
          <a:p>
            <a:r>
              <a:rPr lang="pt-BR" sz="3000" b="1" u="dotted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Kim Hudson Nunes de Oliveira</a:t>
            </a:r>
          </a:p>
          <a:p>
            <a:r>
              <a:rPr lang="pt-BR" sz="3000" b="1" u="dotted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Marina Souto Leal</a:t>
            </a:r>
          </a:p>
          <a:p>
            <a:r>
              <a:rPr lang="pt-BR" sz="3000" b="1" u="dotted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Natália Moraes Medeiros</a:t>
            </a:r>
          </a:p>
          <a:p>
            <a:r>
              <a:rPr lang="pt-BR" sz="3000" b="1" u="dotted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Tâmara Suelen da Silva Gonçalves</a:t>
            </a:r>
          </a:p>
          <a:p>
            <a:r>
              <a:rPr lang="pt-BR" sz="3000" b="1" u="dotted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Vítor Alcântara de Almeida</a:t>
            </a:r>
          </a:p>
          <a:p>
            <a:pPr>
              <a:buNone/>
            </a:pPr>
            <a:endParaRPr lang="pt-BR" sz="3000" b="1" u="dotted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erlin Sans FB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285992"/>
            <a:ext cx="2000232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40" y="5929330"/>
            <a:ext cx="214314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71472" y="214290"/>
            <a:ext cx="7772400" cy="1143008"/>
          </a:xfrm>
        </p:spPr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A transferência de massa</a:t>
            </a:r>
            <a:endParaRPr lang="pt-BR" b="1" u="sng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571736" y="1428736"/>
            <a:ext cx="379379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Mecanismos</a:t>
            </a:r>
            <a:endParaRPr lang="pt-BR" sz="54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143372" y="2285992"/>
            <a:ext cx="428628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2428860" y="3071810"/>
            <a:ext cx="4500594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baixo 7"/>
          <p:cNvSpPr/>
          <p:nvPr/>
        </p:nvSpPr>
        <p:spPr>
          <a:xfrm>
            <a:off x="2071670" y="3071810"/>
            <a:ext cx="500066" cy="12144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baixo 9"/>
          <p:cNvSpPr/>
          <p:nvPr/>
        </p:nvSpPr>
        <p:spPr>
          <a:xfrm>
            <a:off x="6786578" y="3071810"/>
            <a:ext cx="500066" cy="12858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785786" y="4286256"/>
            <a:ext cx="319246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Conveccção</a:t>
            </a:r>
            <a:endParaRPr lang="pt-BR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6143636" y="4429132"/>
            <a:ext cx="18069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Difusão</a:t>
            </a:r>
            <a:endParaRPr lang="pt-BR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214282" y="5643578"/>
            <a:ext cx="868641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000" b="1" cap="none" spc="50" dirty="0" err="1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Obs</a:t>
            </a:r>
            <a:r>
              <a:rPr lang="pt-BR" sz="30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: Ambas ocorrem apenas quando existe</a:t>
            </a:r>
          </a:p>
          <a:p>
            <a:pPr algn="ctr"/>
            <a:r>
              <a:rPr lang="pt-BR" sz="3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diferenças de concentrações entre os componentes</a:t>
            </a:r>
            <a:endParaRPr lang="pt-BR" sz="30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1143000"/>
          </a:xfrm>
        </p:spPr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Conceito de Difusão</a:t>
            </a:r>
            <a:endParaRPr lang="pt-BR" b="1" u="sng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571744"/>
            <a:ext cx="8229600" cy="3768733"/>
          </a:xfrm>
        </p:spPr>
        <p:txBody>
          <a:bodyPr/>
          <a:lstStyle/>
          <a:p>
            <a:pPr algn="ctr"/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Transferência de massa no sentido da zona de baixa concentração para a zona de maior concentração (gradiente de concentração química).</a:t>
            </a:r>
          </a:p>
          <a:p>
            <a:pPr algn="ctr"/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Fenômeno de transporte de material por movimento atômico (para sólidos).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5000636"/>
            <a:ext cx="8229600" cy="11430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pt-BR" sz="27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Figura 1: Difusão em líquidos. Uma gota de tinta é adicionada à água, e se difunde lentamente através dela.</a:t>
            </a:r>
            <a:endParaRPr lang="pt-BR" sz="27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928670"/>
            <a:ext cx="8215370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Fatores que influenciam na Difusão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071678"/>
            <a:ext cx="8229600" cy="4525963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pt-BR" sz="2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</a:rPr>
              <a:t> </a:t>
            </a:r>
            <a:r>
              <a:rPr lang="pt-BR" sz="25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Tahoma" pitchFamily="34" charset="0"/>
              </a:rPr>
              <a:t>Temperatura:</a:t>
            </a:r>
            <a:r>
              <a:rPr lang="pt-BR" sz="2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</a:rPr>
              <a:t> tem a influência mais marcante sobre os coeficientes e taxas 	de difusão.</a:t>
            </a:r>
          </a:p>
          <a:p>
            <a:r>
              <a:rPr lang="pt-BR" sz="2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</a:rPr>
              <a:t> </a:t>
            </a:r>
            <a:r>
              <a:rPr lang="pt-BR" sz="25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Tahoma" pitchFamily="34" charset="0"/>
              </a:rPr>
              <a:t>Energia de Ativação: </a:t>
            </a:r>
            <a:r>
              <a:rPr lang="pt-BR" sz="2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</a:rPr>
              <a:t>é necessária uma grande energia para que um átomo “se esprema” entre os outros durante a difusão. Esta energia é denominada energia de ativação;</a:t>
            </a:r>
          </a:p>
          <a:p>
            <a:r>
              <a:rPr lang="pt-BR" sz="2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</a:rPr>
              <a:t> </a:t>
            </a:r>
            <a:r>
              <a:rPr lang="pt-BR" sz="25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Tahoma" pitchFamily="34" charset="0"/>
              </a:rPr>
              <a:t>Microestrutura: </a:t>
            </a:r>
            <a:r>
              <a:rPr lang="pt-BR" sz="2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</a:rPr>
              <a:t>os coeficientes da difusão se modificam com os caminhos de difusão disponíveis no material.</a:t>
            </a:r>
          </a:p>
          <a:p>
            <a:endParaRPr lang="pt-BR" sz="25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571612"/>
            <a:ext cx="8286808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Difusão</a:t>
            </a:r>
            <a:endParaRPr lang="pt-BR" b="1" u="sng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429132"/>
            <a:ext cx="8229600" cy="1857387"/>
          </a:xfrm>
        </p:spPr>
        <p:txBody>
          <a:bodyPr>
            <a:normAutofit/>
          </a:bodyPr>
          <a:lstStyle/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 smtClean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endParaRPr lang="pt-BR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0" y="5572140"/>
            <a:ext cx="8887113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5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Preparação de chá por infusão (extração</a:t>
            </a:r>
          </a:p>
          <a:p>
            <a:pPr algn="ctr"/>
            <a:r>
              <a:rPr lang="pt-BR" sz="35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sólido/líquido seguido de difusão)</a:t>
            </a:r>
          </a:p>
          <a:p>
            <a:pPr algn="ctr"/>
            <a:endParaRPr lang="pt-BR" sz="54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Condições de ocorrência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4714908"/>
          </a:xfrm>
        </p:spPr>
        <p:txBody>
          <a:bodyPr>
            <a:normAutofit lnSpcReduction="10000"/>
          </a:bodyPr>
          <a:lstStyle/>
          <a:p>
            <a:pPr marL="514350" indent="-514350" algn="ctr">
              <a:buNone/>
            </a:pPr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 difusão só ocorre se houver gradientes de:</a:t>
            </a:r>
            <a:endParaRPr lang="en-US" sz="30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/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Concentração</a:t>
            </a:r>
          </a:p>
          <a:p>
            <a:pPr algn="ctr"/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Potencial</a:t>
            </a:r>
          </a:p>
          <a:p>
            <a:pPr algn="ctr"/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Pressão</a:t>
            </a:r>
          </a:p>
          <a:p>
            <a:pPr>
              <a:buNone/>
            </a:pPr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   </a:t>
            </a:r>
          </a:p>
          <a:p>
            <a:pPr>
              <a:buNone/>
            </a:pPr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	Nesta apresentação, será dada ênfase a difusão relacionada ao gradiente de concentração, que é  representado por:</a:t>
            </a:r>
          </a:p>
          <a:p>
            <a:pPr algn="ctr">
              <a:buNone/>
            </a:pPr>
            <a:r>
              <a:rPr lang="pt-BR" sz="30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dC</a:t>
            </a:r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/dx</a:t>
            </a:r>
          </a:p>
          <a:p>
            <a:pPr marL="514350" indent="-514350">
              <a:buNone/>
            </a:pPr>
            <a:endParaRPr lang="pt-BR" sz="3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u="sng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Fluxo de Difusão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1428736"/>
            <a:ext cx="8229600" cy="4525963"/>
          </a:xfrm>
        </p:spPr>
        <p:txBody>
          <a:bodyPr/>
          <a:lstStyle/>
          <a:p>
            <a:r>
              <a:rPr lang="pt-BR" sz="3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Correspondente a taxa de transferência de massa, isto é, quão rapidamente um elemento é transportado a um outro. É calculada por:</a:t>
            </a:r>
          </a:p>
          <a:p>
            <a:endParaRPr lang="pt-BR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4" name="Picture 7" descr="figura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143380"/>
            <a:ext cx="4419600" cy="979488"/>
          </a:xfrm>
          <a:prstGeom prst="rect">
            <a:avLst/>
          </a:prstGeom>
          <a:noFill/>
        </p:spPr>
      </p:pic>
      <p:pic>
        <p:nvPicPr>
          <p:cNvPr id="5" name="Picture 16" descr="figura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214942" y="3143248"/>
            <a:ext cx="3752850" cy="3368675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714348" y="1785926"/>
            <a:ext cx="7358114" cy="48577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Difusão em Estado Estacionário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4525963"/>
          </a:xfrm>
        </p:spPr>
        <p:txBody>
          <a:bodyPr/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 fluxo não varia com o tempo.</a:t>
            </a:r>
          </a:p>
        </p:txBody>
      </p:sp>
      <p:pic>
        <p:nvPicPr>
          <p:cNvPr id="12" name="Picture 9" descr="figura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2285992"/>
            <a:ext cx="4812927" cy="4286280"/>
          </a:xfrm>
          <a:prstGeom prst="rect">
            <a:avLst/>
          </a:prstGeom>
          <a:noFill/>
        </p:spPr>
      </p:pic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785918" y="2714620"/>
            <a:ext cx="171451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e constante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072066" y="1785926"/>
            <a:ext cx="185738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Placa fina de metal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928662" y="4857760"/>
            <a:ext cx="137379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Gás à pressão P</a:t>
            </a:r>
            <a:r>
              <a:rPr lang="pt-BR" sz="1600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A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143504" y="5857892"/>
            <a:ext cx="137379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Gás à pressão P</a:t>
            </a:r>
            <a:r>
              <a:rPr lang="pt-BR" sz="1600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B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143636" y="3214686"/>
            <a:ext cx="1928826" cy="83099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latin typeface="Tahoma" pitchFamily="34" charset="0"/>
              </a:rPr>
              <a:t>Direção de difusão dos gases</a:t>
            </a:r>
            <a:endParaRPr lang="pt-BR" sz="1600" b="1" baseline="-250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ysClr val="windowText" lastClr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1500174"/>
            <a:ext cx="8229600" cy="5143536"/>
          </a:xfrm>
        </p:spPr>
        <p:txBody>
          <a:bodyPr>
            <a:normAutofit/>
          </a:bodyPr>
          <a:lstStyle/>
          <a:p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Na difusão em estado estacionário, o fluxo de difusão (J) não varia com o tempo. Logo, a concentração também não irá variar nem com o tempo, e conseqüentemente, nem com a posição. Neste caso, pode ser apresentada a Primeira Lei de </a:t>
            </a:r>
            <a:r>
              <a:rPr lang="pt-BR" sz="2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Fick</a:t>
            </a:r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, onde:</a:t>
            </a:r>
          </a:p>
          <a:p>
            <a:endParaRPr lang="pt-BR" sz="26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endParaRPr lang="pt-BR" sz="26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buNone/>
            </a:pPr>
            <a:endParaRPr lang="pt-BR" sz="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</a:rPr>
              <a:t>O sinal negativo indica que o fluxo se dá na direção decrescente do gradiente, ou seja, </a:t>
            </a:r>
            <a:r>
              <a:rPr lang="pt-BR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</a:rPr>
              <a:t>no sentido das concentrações altas para as concentrações baixas</a:t>
            </a:r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</a:rPr>
              <a:t>.</a:t>
            </a:r>
          </a:p>
          <a:p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Difusão em Estado Estacionário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pic>
        <p:nvPicPr>
          <p:cNvPr id="5" name="Picture 20" descr="figura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3643314"/>
            <a:ext cx="2286000" cy="1504950"/>
          </a:xfrm>
          <a:prstGeom prst="rect">
            <a:avLst/>
          </a:prstGeom>
          <a:noFill/>
        </p:spPr>
      </p:pic>
      <p:sp>
        <p:nvSpPr>
          <p:cNvPr id="7" name="CaixaDeTexto 6"/>
          <p:cNvSpPr txBox="1"/>
          <p:nvPr/>
        </p:nvSpPr>
        <p:spPr>
          <a:xfrm>
            <a:off x="3786182" y="3714752"/>
            <a:ext cx="40005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D = Coeficiente de difusão</a:t>
            </a:r>
          </a:p>
          <a:p>
            <a:r>
              <a:rPr lang="pt-BR" sz="25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C = concentração</a:t>
            </a:r>
          </a:p>
          <a:p>
            <a:r>
              <a:rPr lang="pt-BR" sz="25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x = posição</a:t>
            </a:r>
            <a:endParaRPr lang="pt-BR" sz="25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Difusão em Estado Estacionário –</a:t>
            </a:r>
            <a:b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 Aplicação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2643182"/>
            <a:ext cx="8229600" cy="3400436"/>
          </a:xfrm>
        </p:spPr>
        <p:txBody>
          <a:bodyPr/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Uma das aplicações a Engenharia Química do fenômeno de difusão em estado estacionário é a purificação do gás hidrogênio em paládio ou em níquel.</a:t>
            </a:r>
          </a:p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 seguir, um esquema da difusão em paládio</a:t>
            </a:r>
          </a:p>
          <a:p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/>
          <p:cNvCxnSpPr/>
          <p:nvPr/>
        </p:nvCxnSpPr>
        <p:spPr>
          <a:xfrm>
            <a:off x="-1214478" y="3500438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bo 7"/>
          <p:cNvSpPr/>
          <p:nvPr/>
        </p:nvSpPr>
        <p:spPr>
          <a:xfrm>
            <a:off x="409580" y="1142984"/>
            <a:ext cx="5072098" cy="3429024"/>
          </a:xfrm>
          <a:prstGeom prst="cube">
            <a:avLst/>
          </a:prstGeom>
          <a:solidFill>
            <a:schemeClr val="accent6">
              <a:lumMod val="50000"/>
            </a:schemeClr>
          </a:solidFill>
          <a:ln w="38100"/>
          <a:effectLst>
            <a:innerShdw dist="635000" dir="13500000">
              <a:schemeClr val="accent6">
                <a:lumMod val="75000"/>
                <a:alpha val="50000"/>
              </a:schemeClr>
            </a:innerShdw>
          </a:effectLst>
          <a:scene3d>
            <a:camera prst="isometricLeftDown">
              <a:rot lat="19643074" lon="14937407" rev="20791905"/>
            </a:camera>
            <a:lightRig rig="sunset" dir="t"/>
          </a:scene3d>
          <a:sp3d prstMaterial="powder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2338406" y="3000372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2624158" y="3000372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124224" y="2714620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3552852" y="2428868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 flipV="1">
            <a:off x="3786182" y="2214554"/>
            <a:ext cx="71438" cy="457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2767034" y="2643182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267100" y="2357430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3624290" y="2071678"/>
            <a:ext cx="45719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910042" y="1857364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3052786" y="3071810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2767034" y="3786190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2821324" y="3429000"/>
            <a:ext cx="45719" cy="10001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3481414" y="2928934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 flipH="1">
            <a:off x="2195529" y="4143380"/>
            <a:ext cx="45719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3786182" y="2643182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2409844" y="3429000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3195662" y="3500438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3409976" y="3286124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2409844" y="4071942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/>
          <p:cNvSpPr/>
          <p:nvPr/>
        </p:nvSpPr>
        <p:spPr>
          <a:xfrm>
            <a:off x="3643306" y="3071810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/>
          <p:cNvSpPr/>
          <p:nvPr/>
        </p:nvSpPr>
        <p:spPr>
          <a:xfrm>
            <a:off x="2409844" y="3714752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2481282" y="3143248"/>
            <a:ext cx="71438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909646" y="235743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3124224" y="100010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/>
          <p:cNvSpPr/>
          <p:nvPr/>
        </p:nvSpPr>
        <p:spPr>
          <a:xfrm>
            <a:off x="1357290" y="300037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1766902" y="121442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1624026" y="207167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1624026" y="64291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8643966" y="471488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2838472" y="142873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6643702" y="628652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8286776" y="507207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2838472" y="42860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838208" y="164305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2338406" y="128586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304800" y="239552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/>
          <p:cNvSpPr/>
          <p:nvPr/>
        </p:nvSpPr>
        <p:spPr>
          <a:xfrm>
            <a:off x="2000232" y="157161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8286776" y="414338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304800" y="239552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2409844" y="64291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2838472" y="92867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2052654" y="92867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338142" y="185736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1481150" y="150017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Elipse 57"/>
          <p:cNvSpPr/>
          <p:nvPr/>
        </p:nvSpPr>
        <p:spPr>
          <a:xfrm>
            <a:off x="609600" y="270032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2052654" y="200024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981084" y="200024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2266968" y="42860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2428860" y="171448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Elipse 67"/>
          <p:cNvSpPr/>
          <p:nvPr/>
        </p:nvSpPr>
        <p:spPr>
          <a:xfrm>
            <a:off x="3052786" y="57148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/>
          <p:cNvSpPr/>
          <p:nvPr/>
        </p:nvSpPr>
        <p:spPr>
          <a:xfrm>
            <a:off x="8143900" y="557214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/>
          <p:cNvSpPr/>
          <p:nvPr/>
        </p:nvSpPr>
        <p:spPr>
          <a:xfrm>
            <a:off x="914400" y="300512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/>
          <p:cNvSpPr/>
          <p:nvPr/>
        </p:nvSpPr>
        <p:spPr>
          <a:xfrm>
            <a:off x="1338274" y="214311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Elipse 74"/>
          <p:cNvSpPr/>
          <p:nvPr/>
        </p:nvSpPr>
        <p:spPr>
          <a:xfrm>
            <a:off x="1785918" y="242886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1500166" y="100010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1123960" y="114298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/>
          <p:cNvSpPr/>
          <p:nvPr/>
        </p:nvSpPr>
        <p:spPr>
          <a:xfrm>
            <a:off x="3481414" y="71435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Elipse 81"/>
          <p:cNvSpPr/>
          <p:nvPr/>
        </p:nvSpPr>
        <p:spPr>
          <a:xfrm>
            <a:off x="7715272" y="542926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CaixaDeTexto 156"/>
          <p:cNvSpPr txBox="1"/>
          <p:nvPr/>
        </p:nvSpPr>
        <p:spPr>
          <a:xfrm>
            <a:off x="4714876" y="57148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Paládio esponjoso</a:t>
            </a:r>
          </a:p>
        </p:txBody>
      </p:sp>
      <p:cxnSp>
        <p:nvCxnSpPr>
          <p:cNvPr id="161" name="Conector em curva 160"/>
          <p:cNvCxnSpPr/>
          <p:nvPr/>
        </p:nvCxnSpPr>
        <p:spPr>
          <a:xfrm rot="5400000" flipH="1" flipV="1">
            <a:off x="3893339" y="1178703"/>
            <a:ext cx="1357322" cy="85725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CaixaDeTexto 164"/>
          <p:cNvSpPr txBox="1"/>
          <p:nvPr/>
        </p:nvSpPr>
        <p:spPr>
          <a:xfrm>
            <a:off x="357158" y="5214950"/>
            <a:ext cx="1428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Corrente de Hidrogênio + </a:t>
            </a:r>
          </a:p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impurezas</a:t>
            </a:r>
          </a:p>
        </p:txBody>
      </p:sp>
      <p:cxnSp>
        <p:nvCxnSpPr>
          <p:cNvPr id="167" name="Conector em curva 166"/>
          <p:cNvCxnSpPr/>
          <p:nvPr/>
        </p:nvCxnSpPr>
        <p:spPr>
          <a:xfrm rot="16200000" flipH="1">
            <a:off x="-357222" y="3643314"/>
            <a:ext cx="2143140" cy="571504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angulado 173"/>
          <p:cNvCxnSpPr/>
          <p:nvPr/>
        </p:nvCxnSpPr>
        <p:spPr>
          <a:xfrm>
            <a:off x="2786050" y="3286124"/>
            <a:ext cx="2857520" cy="1000132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CaixaDeTexto 176"/>
          <p:cNvSpPr txBox="1"/>
          <p:nvPr/>
        </p:nvSpPr>
        <p:spPr>
          <a:xfrm>
            <a:off x="4357686" y="3714752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DIFUSÃO</a:t>
            </a:r>
            <a:endParaRPr lang="pt-BR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sp>
        <p:nvSpPr>
          <p:cNvPr id="180" name="Cubo 179"/>
          <p:cNvSpPr/>
          <p:nvPr/>
        </p:nvSpPr>
        <p:spPr>
          <a:xfrm>
            <a:off x="4286248" y="3000372"/>
            <a:ext cx="5072098" cy="3429024"/>
          </a:xfrm>
          <a:prstGeom prst="cube">
            <a:avLst/>
          </a:prstGeom>
          <a:solidFill>
            <a:schemeClr val="accent6">
              <a:lumMod val="50000"/>
            </a:schemeClr>
          </a:solidFill>
          <a:ln w="38100"/>
          <a:effectLst>
            <a:innerShdw dist="635000" dir="13500000">
              <a:schemeClr val="accent6">
                <a:lumMod val="75000"/>
                <a:alpha val="50000"/>
              </a:schemeClr>
            </a:innerShdw>
          </a:effectLst>
          <a:scene3d>
            <a:camera prst="isometricLeftDown">
              <a:rot lat="19643074" lon="14937407" rev="20791905"/>
            </a:camera>
            <a:lightRig rig="sunset" dir="t"/>
          </a:scene3d>
          <a:sp3d prstMaterial="powder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1" name="Elipse 180"/>
          <p:cNvSpPr/>
          <p:nvPr/>
        </p:nvSpPr>
        <p:spPr>
          <a:xfrm>
            <a:off x="6572264" y="4786322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Elipse 181"/>
          <p:cNvSpPr/>
          <p:nvPr/>
        </p:nvSpPr>
        <p:spPr>
          <a:xfrm>
            <a:off x="6786578" y="5072074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3" name="Elipse 182"/>
          <p:cNvSpPr/>
          <p:nvPr/>
        </p:nvSpPr>
        <p:spPr>
          <a:xfrm>
            <a:off x="7072330" y="4643446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4" name="Elipse 183"/>
          <p:cNvSpPr/>
          <p:nvPr/>
        </p:nvSpPr>
        <p:spPr>
          <a:xfrm>
            <a:off x="7500958" y="4357694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Elipse 184"/>
          <p:cNvSpPr/>
          <p:nvPr/>
        </p:nvSpPr>
        <p:spPr>
          <a:xfrm flipV="1">
            <a:off x="7734288" y="4143379"/>
            <a:ext cx="71438" cy="457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6" name="Elipse 185"/>
          <p:cNvSpPr/>
          <p:nvPr/>
        </p:nvSpPr>
        <p:spPr>
          <a:xfrm>
            <a:off x="6715140" y="4572008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7" name="Elipse 186"/>
          <p:cNvSpPr/>
          <p:nvPr/>
        </p:nvSpPr>
        <p:spPr>
          <a:xfrm>
            <a:off x="7215206" y="4286256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8" name="Elipse 187"/>
          <p:cNvSpPr/>
          <p:nvPr/>
        </p:nvSpPr>
        <p:spPr>
          <a:xfrm>
            <a:off x="7572396" y="4000504"/>
            <a:ext cx="45719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Elipse 188"/>
          <p:cNvSpPr/>
          <p:nvPr/>
        </p:nvSpPr>
        <p:spPr>
          <a:xfrm>
            <a:off x="7858148" y="3786190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0" name="Elipse 189"/>
          <p:cNvSpPr/>
          <p:nvPr/>
        </p:nvSpPr>
        <p:spPr>
          <a:xfrm>
            <a:off x="7000892" y="5000636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1" name="Elipse 190"/>
          <p:cNvSpPr/>
          <p:nvPr/>
        </p:nvSpPr>
        <p:spPr>
          <a:xfrm>
            <a:off x="6786578" y="5643578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2" name="Elipse 191"/>
          <p:cNvSpPr/>
          <p:nvPr/>
        </p:nvSpPr>
        <p:spPr>
          <a:xfrm>
            <a:off x="6769430" y="5412116"/>
            <a:ext cx="45719" cy="457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3" name="Elipse 192"/>
          <p:cNvSpPr/>
          <p:nvPr/>
        </p:nvSpPr>
        <p:spPr>
          <a:xfrm>
            <a:off x="7358082" y="4643446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4" name="Elipse 193"/>
          <p:cNvSpPr/>
          <p:nvPr/>
        </p:nvSpPr>
        <p:spPr>
          <a:xfrm flipH="1">
            <a:off x="6143634" y="6072206"/>
            <a:ext cx="45719" cy="714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5" name="Elipse 194"/>
          <p:cNvSpPr/>
          <p:nvPr/>
        </p:nvSpPr>
        <p:spPr>
          <a:xfrm>
            <a:off x="7734288" y="4572008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6" name="Elipse 195"/>
          <p:cNvSpPr/>
          <p:nvPr/>
        </p:nvSpPr>
        <p:spPr>
          <a:xfrm>
            <a:off x="6357950" y="5357826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7" name="Elipse 196"/>
          <p:cNvSpPr/>
          <p:nvPr/>
        </p:nvSpPr>
        <p:spPr>
          <a:xfrm>
            <a:off x="7143768" y="5429264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8" name="Elipse 197"/>
          <p:cNvSpPr/>
          <p:nvPr/>
        </p:nvSpPr>
        <p:spPr>
          <a:xfrm>
            <a:off x="7358082" y="5214950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9" name="Elipse 198"/>
          <p:cNvSpPr/>
          <p:nvPr/>
        </p:nvSpPr>
        <p:spPr>
          <a:xfrm>
            <a:off x="6357950" y="6000768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0" name="Elipse 199"/>
          <p:cNvSpPr/>
          <p:nvPr/>
        </p:nvSpPr>
        <p:spPr>
          <a:xfrm>
            <a:off x="7572396" y="4857760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Elipse 200"/>
          <p:cNvSpPr/>
          <p:nvPr/>
        </p:nvSpPr>
        <p:spPr>
          <a:xfrm>
            <a:off x="6357950" y="5643578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Elipse 201"/>
          <p:cNvSpPr/>
          <p:nvPr/>
        </p:nvSpPr>
        <p:spPr>
          <a:xfrm>
            <a:off x="6429388" y="5072074"/>
            <a:ext cx="61914" cy="619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3" name="Elipse 202"/>
          <p:cNvSpPr/>
          <p:nvPr/>
        </p:nvSpPr>
        <p:spPr>
          <a:xfrm>
            <a:off x="6500826" y="514351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4" name="Elipse 203"/>
          <p:cNvSpPr/>
          <p:nvPr/>
        </p:nvSpPr>
        <p:spPr>
          <a:xfrm>
            <a:off x="2305032" y="187641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5" name="Elipse 204"/>
          <p:cNvSpPr/>
          <p:nvPr/>
        </p:nvSpPr>
        <p:spPr>
          <a:xfrm>
            <a:off x="6500826" y="414338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6" name="Elipse 205"/>
          <p:cNvSpPr/>
          <p:nvPr/>
        </p:nvSpPr>
        <p:spPr>
          <a:xfrm>
            <a:off x="7215206" y="400050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7" name="Elipse 206"/>
          <p:cNvSpPr/>
          <p:nvPr/>
        </p:nvSpPr>
        <p:spPr>
          <a:xfrm>
            <a:off x="7786710" y="350043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" name="Elipse 207"/>
          <p:cNvSpPr/>
          <p:nvPr/>
        </p:nvSpPr>
        <p:spPr>
          <a:xfrm>
            <a:off x="7215206" y="492919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9" name="Elipse 208"/>
          <p:cNvSpPr/>
          <p:nvPr/>
        </p:nvSpPr>
        <p:spPr>
          <a:xfrm>
            <a:off x="6929454" y="521495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0" name="Elipse 209"/>
          <p:cNvSpPr/>
          <p:nvPr/>
        </p:nvSpPr>
        <p:spPr>
          <a:xfrm>
            <a:off x="7520006" y="430530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1" name="Elipse 210"/>
          <p:cNvSpPr/>
          <p:nvPr/>
        </p:nvSpPr>
        <p:spPr>
          <a:xfrm>
            <a:off x="7572396" y="371475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2" name="Elipse 211"/>
          <p:cNvSpPr/>
          <p:nvPr/>
        </p:nvSpPr>
        <p:spPr>
          <a:xfrm>
            <a:off x="6858016" y="435769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3" name="Elipse 212"/>
          <p:cNvSpPr/>
          <p:nvPr/>
        </p:nvSpPr>
        <p:spPr>
          <a:xfrm>
            <a:off x="6929454" y="385762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4" name="Elipse 213"/>
          <p:cNvSpPr/>
          <p:nvPr/>
        </p:nvSpPr>
        <p:spPr>
          <a:xfrm>
            <a:off x="7429520" y="3357562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5" name="Elipse 214"/>
          <p:cNvSpPr/>
          <p:nvPr/>
        </p:nvSpPr>
        <p:spPr>
          <a:xfrm>
            <a:off x="7643834" y="3143248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6" name="Elipse 215"/>
          <p:cNvSpPr/>
          <p:nvPr/>
        </p:nvSpPr>
        <p:spPr>
          <a:xfrm>
            <a:off x="6357950" y="4714884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7" name="Elipse 216"/>
          <p:cNvSpPr/>
          <p:nvPr/>
        </p:nvSpPr>
        <p:spPr>
          <a:xfrm>
            <a:off x="6143636" y="557214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8" name="Elipse 217"/>
          <p:cNvSpPr/>
          <p:nvPr/>
        </p:nvSpPr>
        <p:spPr>
          <a:xfrm>
            <a:off x="7110426" y="475298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9" name="Elipse 218"/>
          <p:cNvSpPr/>
          <p:nvPr/>
        </p:nvSpPr>
        <p:spPr>
          <a:xfrm>
            <a:off x="7500958" y="500063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0" name="Elipse 219"/>
          <p:cNvSpPr/>
          <p:nvPr/>
        </p:nvSpPr>
        <p:spPr>
          <a:xfrm>
            <a:off x="6786578" y="4857760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1" name="Elipse 220"/>
          <p:cNvSpPr/>
          <p:nvPr/>
        </p:nvSpPr>
        <p:spPr>
          <a:xfrm>
            <a:off x="6572264" y="571501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3" name="CaixaDeTexto 222"/>
          <p:cNvSpPr txBox="1"/>
          <p:nvPr/>
        </p:nvSpPr>
        <p:spPr>
          <a:xfrm>
            <a:off x="7286644" y="6072206"/>
            <a:ext cx="1643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H₂ absorvido pelo paládio</a:t>
            </a:r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Difusão em Estado </a:t>
            </a:r>
            <a:b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Não-Estacionário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 fluxo de difusão e o gradiente de concentração numa dada posição x varia com o tempo, resultando um acúmulo ou esgotamento líquido das espécies difusoras.</a:t>
            </a:r>
          </a:p>
          <a:p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Neste caso, aplica-se a 2ª Lei de </a:t>
            </a:r>
            <a:r>
              <a:rPr lang="pt-BR" sz="2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Fick</a:t>
            </a:r>
            <a:r>
              <a:rPr lang="pt-BR" sz="2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, dada pela seguinte EDP:</a:t>
            </a:r>
          </a:p>
        </p:txBody>
      </p:sp>
      <p:pic>
        <p:nvPicPr>
          <p:cNvPr id="4" name="Picture 9" descr="figura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3714752"/>
            <a:ext cx="2743200" cy="264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Características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  <a:defRPr/>
            </a:pP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Antes da difusão todos os átomos do soluto estão uniformemente distribuídos;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O coeficiente de difusão permanece constante (não muda com a concentração);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 valor de x na superfície é zero e aumenta a medida que avança-se em profundidade no sólido;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t=o imediatamente antes da difusão </a:t>
            </a:r>
          </a:p>
          <a:p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A Segunda Lei de </a:t>
            </a:r>
            <a:r>
              <a:rPr lang="pt-BR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Fick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85786" y="1428736"/>
            <a:ext cx="3143272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3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Ao especificar condições de contorno que possuem um sentido físico, obtém-se soluções para segunda lei de </a:t>
            </a:r>
            <a:r>
              <a:rPr lang="pt-BR" sz="23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Fick</a:t>
            </a:r>
            <a:r>
              <a:rPr lang="pt-BR" sz="23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, que são funções C = f(x,t) (concentrações em termos tanto da posição quanto do tempo). </a:t>
            </a:r>
          </a:p>
        </p:txBody>
      </p:sp>
      <p:pic>
        <p:nvPicPr>
          <p:cNvPr id="5" name="Picture 7" descr="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571612"/>
            <a:ext cx="45720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solid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5143512"/>
            <a:ext cx="7429552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Difusão em Regime </a:t>
            </a:r>
            <a:b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Não-Estacionário – Aplicações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Algumas aplicações na Engenharia Química deste fenômeno são: </a:t>
            </a:r>
            <a:r>
              <a:rPr lang="pt-BR" sz="5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 </a:t>
            </a:r>
          </a:p>
          <a:p>
            <a:pPr>
              <a:buNone/>
            </a:pPr>
            <a:endParaRPr lang="pt-BR" sz="5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Berlin Sans FB" pitchFamily="34" charset="0"/>
            </a:endParaRPr>
          </a:p>
          <a:p>
            <a:pPr>
              <a:buNone/>
            </a:pPr>
            <a:endParaRPr lang="pt-BR" sz="5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Berlin Sans FB" pitchFamily="34" charset="0"/>
            </a:endParaRPr>
          </a:p>
          <a:p>
            <a:pPr>
              <a:buNone/>
            </a:pPr>
            <a:endParaRPr lang="pt-BR" sz="5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Berlin Sans FB" pitchFamily="34" charset="0"/>
            </a:endParaRPr>
          </a:p>
          <a:p>
            <a:pPr>
              <a:buNone/>
            </a:pPr>
            <a:endParaRPr lang="pt-BR" sz="5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Berlin Sans FB" pitchFamily="34" charset="0"/>
            </a:endParaRPr>
          </a:p>
          <a:p>
            <a:pPr>
              <a:buNone/>
            </a:pPr>
            <a:endParaRPr lang="pt-BR" sz="5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Berlin Sans FB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pt-BR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Berlin Sans FB" pitchFamily="34" charset="0"/>
              </a:rPr>
              <a:t> Modificação superficial de peças (</a:t>
            </a:r>
            <a:r>
              <a:rPr lang="pt-BR" b="1" dirty="0" err="1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Berlin Sans FB" pitchFamily="34" charset="0"/>
              </a:rPr>
              <a:t>Cementação</a:t>
            </a:r>
            <a:r>
              <a:rPr lang="pt-BR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Berlin Sans FB" pitchFamily="34" charset="0"/>
              </a:rPr>
              <a:t>);</a:t>
            </a:r>
          </a:p>
          <a:p>
            <a:pPr>
              <a:buFont typeface="Wingdings" pitchFamily="2" charset="2"/>
              <a:buChar char="ü"/>
            </a:pPr>
            <a:r>
              <a:rPr lang="pt-BR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Berlin Sans FB" pitchFamily="34" charset="0"/>
              </a:rPr>
              <a:t> Homogeneização de ligas com segregação;</a:t>
            </a:r>
          </a:p>
          <a:p>
            <a:pPr>
              <a:buFont typeface="Wingdings" pitchFamily="2" charset="2"/>
              <a:buChar char="ü"/>
            </a:pPr>
            <a:r>
              <a:rPr lang="pt-BR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Berlin Sans FB" pitchFamily="34" charset="0"/>
              </a:rPr>
              <a:t> Sinterização (aquecimento de pó metálico, sob determinadas condições, para obter uma peça sólida).</a:t>
            </a:r>
            <a:endParaRPr lang="pt-BR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Cementação</a:t>
            </a:r>
            <a:endParaRPr lang="pt-BR" dirty="0"/>
          </a:p>
        </p:txBody>
      </p:sp>
      <p:pic>
        <p:nvPicPr>
          <p:cNvPr id="4" name="Picture 4" descr="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428736"/>
            <a:ext cx="4367213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Cementação</a:t>
            </a:r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 sólida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Objetivo do processo: aumentar o teor de carbono de uma fina camada na superfície da peça.</a:t>
            </a:r>
            <a:b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/>
            </a:r>
            <a:b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Se o aço é de baixo carbono, apenas a camada superficial é endurecida e o interior mantém as características de ductilidade(suporte a deformação plástica) e tenacidade(resistência a fratura). Isso proporciona uma combinação das propriedades desejáveis de resistência ao desgaste e estabilidade estrutural.</a:t>
            </a:r>
            <a:b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/>
            </a:r>
            <a:b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A difusão é proporcionada pelo carbono fornecido por algum meio, em temperaturas nas quais ela possa ocorrer. Normalmente na faixa da </a:t>
            </a:r>
            <a:r>
              <a:rPr lang="pt-BR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austenita</a:t>
            </a: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rlin Sans FB" pitchFamily="34" charset="0"/>
              </a:rPr>
              <a:t>, de 840 a 1000ºC.</a:t>
            </a:r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Cementação</a:t>
            </a:r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 sólida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643050"/>
            <a:ext cx="814393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Cementação</a:t>
            </a:r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 sólida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 peça é envolvida em uma mistura de carvão vegetal granulado e reagentes. Um meio adequado, como uma caixa, mantém o conjunto que recebe aquecimento conforme figura mostrada anteriormente.</a:t>
            </a:r>
            <a:b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r>
              <a:rPr lang="pt-B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Um reagente usual é o carbonato de bário, que se decompõe e libera o dióxido de carbono, que será utilizado para endurecer a superfície </a:t>
            </a:r>
            <a:r>
              <a:rPr lang="pt-BR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da peça.</a:t>
            </a:r>
            <a:endParaRPr lang="pt-B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1143000"/>
          </a:xfrm>
        </p:spPr>
        <p:txBody>
          <a:bodyPr>
            <a:normAutofit fontScale="90000"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Corte de uma engrenagem</a:t>
            </a:r>
            <a:b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</a:br>
            <a:r>
              <a:rPr lang="pt-BR" b="1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cementada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714488"/>
            <a:ext cx="500066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pt-B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Berlin Sans FB" pitchFamily="34" charset="0"/>
              </a:rPr>
              <a:t>Referências Bibliográficas</a:t>
            </a:r>
            <a:endParaRPr lang="pt-BR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2"/>
              </a:rPr>
              <a:t>http://www.poli.usp.br/d/pmt2100/Aula04_2005%201p.</a:t>
            </a:r>
            <a:r>
              <a:rPr lang="pt-BR" sz="2600" dirty="0" err="1" smtClean="0">
                <a:solidFill>
                  <a:schemeClr val="bg1"/>
                </a:solidFill>
                <a:latin typeface="Berlin Sans FB" pitchFamily="34" charset="0"/>
                <a:hlinkClick r:id="rId2"/>
              </a:rPr>
              <a:t>pdf</a:t>
            </a:r>
            <a:endParaRPr lang="pt-BR" sz="2600" dirty="0" smtClean="0">
              <a:solidFill>
                <a:schemeClr val="bg1"/>
              </a:solidFill>
              <a:latin typeface="Berlin Sans FB" pitchFamily="34" charset="0"/>
            </a:endParaRPr>
          </a:p>
          <a:p>
            <a:pPr>
              <a:buNone/>
            </a:pPr>
            <a:endParaRPr lang="pt-BR" sz="2600" dirty="0" smtClean="0">
              <a:solidFill>
                <a:schemeClr val="bg1"/>
              </a:solidFill>
              <a:latin typeface="Berlin Sans FB" pitchFamily="34" charset="0"/>
            </a:endParaRPr>
          </a:p>
          <a:p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3"/>
              </a:rPr>
              <a:t>http://www.mspc.eng.br/ciemat/aco170.shtml</a:t>
            </a:r>
            <a:endParaRPr lang="pt-BR" sz="2600" dirty="0" smtClean="0">
              <a:solidFill>
                <a:schemeClr val="bg1"/>
              </a:solidFill>
              <a:latin typeface="Berlin Sans FB" pitchFamily="34" charset="0"/>
            </a:endParaRPr>
          </a:p>
          <a:p>
            <a:pPr>
              <a:buNone/>
            </a:pPr>
            <a:endParaRPr lang="pt-BR" sz="2600" dirty="0" smtClean="0">
              <a:solidFill>
                <a:schemeClr val="bg1"/>
              </a:solidFill>
              <a:latin typeface="Berlin Sans FB" pitchFamily="34" charset="0"/>
            </a:endParaRPr>
          </a:p>
          <a:p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http://labvirtual.eq.uc.pt/siteJoomla/index.</a:t>
            </a:r>
            <a:r>
              <a:rPr lang="pt-BR" sz="2600" dirty="0" err="1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php</a:t>
            </a:r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?</a:t>
            </a:r>
            <a:r>
              <a:rPr lang="pt-BR" sz="2600" dirty="0" err="1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option</a:t>
            </a:r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=</a:t>
            </a:r>
            <a:r>
              <a:rPr lang="pt-BR" sz="2600" dirty="0" err="1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com_content&amp;task</a:t>
            </a:r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=</a:t>
            </a:r>
            <a:r>
              <a:rPr lang="pt-BR" sz="2600" dirty="0" err="1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view&amp;id</a:t>
            </a:r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=249&amp;</a:t>
            </a:r>
            <a:r>
              <a:rPr lang="pt-BR" sz="2600" dirty="0" err="1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Itemid</a:t>
            </a:r>
            <a:r>
              <a:rPr lang="pt-BR" sz="2600" dirty="0" smtClean="0">
                <a:solidFill>
                  <a:schemeClr val="bg1"/>
                </a:solidFill>
                <a:latin typeface="Berlin Sans FB" pitchFamily="34" charset="0"/>
                <a:hlinkClick r:id="rId4"/>
              </a:rPr>
              <a:t>=423#5</a:t>
            </a:r>
            <a:endParaRPr lang="pt-BR" sz="2600" dirty="0" smtClean="0">
              <a:solidFill>
                <a:schemeClr val="bg1"/>
              </a:solidFill>
              <a:latin typeface="Berlin Sans FB" pitchFamily="34" charset="0"/>
            </a:endParaRPr>
          </a:p>
          <a:p>
            <a:pPr>
              <a:buNone/>
            </a:pPr>
            <a:endParaRPr lang="pt-BR" sz="26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r>
              <a:rPr lang="en-US" sz="2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erlin Sans FB" pitchFamily="34" charset="0"/>
              </a:rPr>
              <a:t>William D. </a:t>
            </a:r>
            <a:r>
              <a:rPr lang="en-US" sz="2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erlin Sans FB" pitchFamily="34" charset="0"/>
              </a:rPr>
              <a:t>Callister</a:t>
            </a:r>
            <a:r>
              <a:rPr lang="en-US" sz="2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erlin Sans FB" pitchFamily="34" charset="0"/>
              </a:rPr>
              <a:t>, Jr. - John Wiley &amp; Sons</a:t>
            </a:r>
            <a:r>
              <a:rPr lang="pt-BR" sz="2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erlin Sans FB" pitchFamily="34" charset="0"/>
              </a:rPr>
              <a:t>, Engenharia e Ciência dos Materiais, Inc., </a:t>
            </a:r>
            <a:r>
              <a:rPr lang="pt-BR" sz="26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erlin Sans FB" pitchFamily="34" charset="0"/>
              </a:rPr>
              <a:t>New</a:t>
            </a:r>
            <a:r>
              <a:rPr lang="pt-BR" sz="2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erlin Sans FB" pitchFamily="34" charset="0"/>
              </a:rPr>
              <a:t> York,NY,1991.</a:t>
            </a:r>
            <a:endParaRPr lang="pt-BR" sz="2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Berlin Sans FB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2500306"/>
            <a:ext cx="8229600" cy="218599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96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FIM</a:t>
            </a:r>
            <a:endParaRPr lang="pt-BR" sz="96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wipe dir="d"/>
    <p:sndAc>
      <p:stSnd>
        <p:snd r:embed="rId2" name="applause.wav"/>
      </p:stSnd>
    </p:sndAc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715</TotalTime>
  <Words>643</Words>
  <Application>Microsoft Office PowerPoint</Application>
  <PresentationFormat>Apresentação na tela (4:3)</PresentationFormat>
  <Paragraphs>109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Tema do Office</vt:lpstr>
      <vt:lpstr> Seminário: O Fenômeno da difusão aplicado a Engenharia Química  </vt:lpstr>
      <vt:lpstr>A transferência de massa</vt:lpstr>
      <vt:lpstr>Conceito de Difusão</vt:lpstr>
      <vt:lpstr>Figura 1: Difusão em líquidos. Uma gota de tinta é adicionada à água, e se difunde lentamente através dela.</vt:lpstr>
      <vt:lpstr>Fatores que influenciam na Difusão</vt:lpstr>
      <vt:lpstr>Difusão</vt:lpstr>
      <vt:lpstr>Condições de ocorrência</vt:lpstr>
      <vt:lpstr>Fluxo de Difusão</vt:lpstr>
      <vt:lpstr>Difusão em Estado Estacionário</vt:lpstr>
      <vt:lpstr>Difusão em Estado Estacionário</vt:lpstr>
      <vt:lpstr>Difusão em Estado Estacionário –  Aplicação</vt:lpstr>
      <vt:lpstr>Slide 12</vt:lpstr>
      <vt:lpstr>Difusão em Estado  Não-Estacionário</vt:lpstr>
      <vt:lpstr>Características</vt:lpstr>
      <vt:lpstr>A Segunda Lei de Fick</vt:lpstr>
      <vt:lpstr>Difusão em Regime  Não-Estacionário – Aplicações</vt:lpstr>
      <vt:lpstr>Cementação</vt:lpstr>
      <vt:lpstr>Cementação sólida</vt:lpstr>
      <vt:lpstr>Cementação sólida</vt:lpstr>
      <vt:lpstr>Cementação sólida</vt:lpstr>
      <vt:lpstr>Corte de uma engrenagem cementada</vt:lpstr>
      <vt:lpstr>Referências Bibliográficas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Tamara</dc:creator>
  <cp:lastModifiedBy>VITOR</cp:lastModifiedBy>
  <cp:revision>126</cp:revision>
  <dcterms:created xsi:type="dcterms:W3CDTF">2009-11-29T02:17:25Z</dcterms:created>
  <dcterms:modified xsi:type="dcterms:W3CDTF">2009-12-01T14:13:03Z</dcterms:modified>
</cp:coreProperties>
</file>